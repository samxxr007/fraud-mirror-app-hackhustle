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DD5D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DD5DF"/>
                </a:solidFill>
                <a:latin typeface="Arial"/>
              </a:rPr>
              <a:t>Revenue per customer tier (₹ Lakhs MRR)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Potential (₹ Lakhs)</c:v>
                </c:pt>
              </c:strCache>
            </c:strRef>
          </c:tx>
          <c:spPr>
            <a:solidFill>
              <a:srgbClr val="0096B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B4D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Small D2C
(5K returns/mo)</c:v>
                </c:pt>
                <c:pt idx="1">
                  <c:v>Mid D2C
(25K returns/mo)</c:v>
                </c:pt>
                <c:pt idx="2">
                  <c:v>Large D2C
(100K returns/mo)</c:v>
                </c:pt>
                <c:pt idx="3">
                  <c:v>Enterprise
(500K returns/mo)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200</c:v>
                </c:pt>
                <c:pt idx="3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5A-44C2-99CF-064DC82E14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3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5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42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035040" y="457200"/>
            <a:ext cx="2834640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</a:rPr>
              <a:t>HACKATHON 2025  ·  LOGISTICS TRACK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65760" y="7315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ShopSphere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Forensic Mirror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6576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0E0EF"/>
                </a:solidFill>
              </a:rPr>
              <a:t>AI-Powered Return Fraud Detection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90E0EF"/>
                </a:solidFill>
              </a:rPr>
              <a:t>for the $101 Billion Problem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" y="4206240"/>
            <a:ext cx="1965960" cy="749808"/>
          </a:xfrm>
          <a:prstGeom prst="rect">
            <a:avLst/>
          </a:prstGeom>
          <a:solidFill>
            <a:srgbClr val="162533"/>
          </a:solidFill>
          <a:ln w="12700">
            <a:solidFill>
              <a:srgbClr val="0096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42245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$101B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4572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5DF"/>
                </a:solidFill>
              </a:rPr>
              <a:t>Lost to return fraud yearly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4206240"/>
            <a:ext cx="1965960" cy="749808"/>
          </a:xfrm>
          <a:prstGeom prst="rect">
            <a:avLst/>
          </a:prstGeom>
          <a:solidFill>
            <a:srgbClr val="162533"/>
          </a:solidFill>
          <a:ln w="12700">
            <a:solidFill>
              <a:srgbClr val="0096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0" y="42245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90%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60320" y="4572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5DF"/>
                </a:solidFill>
              </a:rPr>
              <a:t>Fraud reduction target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4206240"/>
            <a:ext cx="1965960" cy="749808"/>
          </a:xfrm>
          <a:prstGeom prst="rect">
            <a:avLst/>
          </a:prstGeom>
          <a:solidFill>
            <a:srgbClr val="162533"/>
          </a:solidFill>
          <a:ln w="12700">
            <a:solidFill>
              <a:srgbClr val="0096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42245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2 hrs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754880" y="4572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5DF"/>
                </a:solidFill>
              </a:rPr>
              <a:t>Refund for verified returns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49440" y="4206240"/>
            <a:ext cx="1965960" cy="749808"/>
          </a:xfrm>
          <a:prstGeom prst="rect">
            <a:avLst/>
          </a:prstGeom>
          <a:solidFill>
            <a:srgbClr val="162533"/>
          </a:solidFill>
          <a:ln w="12700">
            <a:solidFill>
              <a:srgbClr val="0096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49440" y="42245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10K+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949440" y="4572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5DF"/>
                </a:solidFill>
              </a:rPr>
              <a:t>D2C brands unprotected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THE $101 BILLION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Return fraud exploits the one thing retailers can't eliminate — trust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97480" cy="1261872"/>
          </a:xfrm>
          <a:prstGeom prst="rect">
            <a:avLst/>
          </a:prstGeom>
          <a:solidFill>
            <a:srgbClr val="1625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70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" y="1490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Swapping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6968" y="18013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Returns a pTron clone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instead of AirPods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72968" y="1325880"/>
            <a:ext cx="2697480" cy="1261872"/>
          </a:xfrm>
          <a:prstGeom prst="rect">
            <a:avLst/>
          </a:prstGeom>
          <a:solidFill>
            <a:srgbClr val="1625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5270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9896" y="1490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Wardrobing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739896" y="18013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Buys luxury item,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wears once, returns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25896" y="1325880"/>
            <a:ext cx="2697480" cy="1261872"/>
          </a:xfrm>
          <a:prstGeom prst="rect">
            <a:avLst/>
          </a:prstGeom>
          <a:solidFill>
            <a:srgbClr val="1625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5270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92824" y="1490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Empty Box / INR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592824" y="18013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Claims item never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arrived or box empty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2743200"/>
            <a:ext cx="2697480" cy="1261872"/>
          </a:xfrm>
          <a:prstGeom prst="rect">
            <a:avLst/>
          </a:prstGeom>
          <a:solidFill>
            <a:srgbClr val="1625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4436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6968" y="2907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Friendly Fraud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86968" y="3218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Keeps item,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bank chargeback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172968" y="2743200"/>
            <a:ext cx="2697480" cy="1261872"/>
          </a:xfrm>
          <a:prstGeom prst="rect">
            <a:avLst/>
          </a:prstGeom>
          <a:solidFill>
            <a:srgbClr val="1625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94436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39896" y="2907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Organised Rings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739896" y="3218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50+ accounts,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rotating devices &amp; IPs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25896" y="2743200"/>
            <a:ext cx="2697480" cy="1261872"/>
          </a:xfrm>
          <a:prstGeom prst="rect">
            <a:avLst/>
          </a:prstGeom>
          <a:solidFill>
            <a:srgbClr val="1625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2944368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92824" y="2907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Falsified Photos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592824" y="3218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Submits Google Images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as damage proof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320040" y="4297680"/>
            <a:ext cx="8503920" cy="640080"/>
          </a:xfrm>
          <a:prstGeom prst="rect">
            <a:avLst/>
          </a:prstGeom>
          <a:solidFill>
            <a:srgbClr val="1E3347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407408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68680" y="4315968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Verification Gap:  Warehouses rely on manual inspection — slow, inconsistent, fooled by high-quality replicas.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WHY EXISTING SOLUTIONS FAIL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Amazon uses delivery boys. We use intelligence.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3977640" cy="3520440"/>
          </a:xfrm>
          <a:prstGeom prst="rect">
            <a:avLst/>
          </a:prstGeom>
          <a:solidFill>
            <a:srgbClr val="1625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</a:rPr>
              <a:t>Amazon / Flipkart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DD5DF"/>
                </a:solidFill>
              </a:rPr>
              <a:t>Delivery boy physical check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Courier can be bribed by fraud rings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871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Can't detect swapped GPU / watch internals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71216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Mood-dependent, inconsistent results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55264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236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Not scalable for 10,000+ D2C brands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9312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621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Zero digital audit trail after check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846320" y="1234440"/>
            <a:ext cx="3977640" cy="3520440"/>
          </a:xfrm>
          <a:prstGeom prst="rect">
            <a:avLst/>
          </a:prstGeom>
          <a:solidFill>
            <a:srgbClr val="162533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49834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ShopSphere Forensic Mirror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98348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DD5DF"/>
                </a:solidFill>
              </a:rPr>
              <a:t>Predictive AI — no human needed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10312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Digital fingerprint before courier arrives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487168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352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Metadata check beats hidden product swaps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71216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0352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Consistent, explainable, auditable decisions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55264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03520" y="3236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API-first — any D2C brand integrates same day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639312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03520" y="3621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Tamper-proof forensic ledger on every scan</a:t>
            </a:r>
            <a:endParaRPr lang="en-US" sz="1100" dirty="0"/>
          </a:p>
        </p:txBody>
      </p:sp>
      <p:sp>
        <p:nvSpPr>
          <p:cNvPr id="30" name="Shape 18"/>
          <p:cNvSpPr/>
          <p:nvPr/>
        </p:nvSpPr>
        <p:spPr>
          <a:xfrm>
            <a:off x="4187952" y="2633472"/>
            <a:ext cx="768096" cy="7680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4187952" y="26334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2-Factor Visual Verification — a Digital DNA for every product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71800" y="2514600"/>
            <a:ext cx="3200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72968" y="2404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51760" cy="3566160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898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993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Delivery Scan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</a:rPr>
              <a:t>Baseline DNA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633472"/>
            <a:ext cx="2377440" cy="0"/>
          </a:xfrm>
          <a:prstGeom prst="line">
            <a:avLst/>
          </a:prstGeom>
          <a:noFill/>
          <a:ln w="12700">
            <a:solidFill>
              <a:srgbClr val="1E33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724912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5DF"/>
                </a:solidFill>
              </a:rPr>
              <a:t>Delivery agent / customer performs 360° AI scan. COCO-SSD identifies product and saves Digital DNA — labels, metadata, dimensions.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52160" y="2514600"/>
            <a:ext cx="3200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04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0" y="1234440"/>
            <a:ext cx="2651760" cy="3566160"/>
          </a:xfrm>
          <a:prstGeom prst="rect">
            <a:avLst/>
          </a:prstGeom>
          <a:solidFill>
            <a:srgbClr val="162533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7560" y="137160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38988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7560" y="1993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Return Challenge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337560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A261"/>
                </a:solidFill>
              </a:rPr>
              <a:t>Live Scan Required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2633472"/>
            <a:ext cx="2377440" cy="0"/>
          </a:xfrm>
          <a:prstGeom prst="line">
            <a:avLst/>
          </a:prstGeom>
          <a:noFill/>
          <a:ln w="12700">
            <a:solidFill>
              <a:srgbClr val="1E334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37560" y="2724912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5DF"/>
                </a:solidFill>
              </a:rPr>
              <a:t>To initiate a return the customer must perform a live AI scan. No scan — no pickup authorised. No exceptions.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080760" y="1234440"/>
            <a:ext cx="2651760" cy="3566160"/>
          </a:xfrm>
          <a:prstGeom prst="rect">
            <a:avLst/>
          </a:prstGeom>
          <a:solidFill>
            <a:srgbClr val="162533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17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389888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17920" y="1993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Forensic Verdict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217920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C4B6"/>
                </a:solidFill>
              </a:rPr>
              <a:t>Cross-Reference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217920" y="2633472"/>
            <a:ext cx="2377440" cy="0"/>
          </a:xfrm>
          <a:prstGeom prst="line">
            <a:avLst/>
          </a:prstGeom>
          <a:noFill/>
          <a:ln w="12700">
            <a:solidFill>
              <a:srgbClr val="1E334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17920" y="2724912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5DF"/>
                </a:solidFill>
              </a:rPr>
              <a:t>Fraud Mirror engine compares return scan vs delivery baseline. Jaccard similarity, brand gate, metadata integrity — verdict in 3 seconds.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THE WEIGHTED PROBABILITY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is mathematically defensible — not a black box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8503920" cy="804672"/>
          </a:xfrm>
          <a:prstGeom prst="rect">
            <a:avLst/>
          </a:prstGeom>
          <a:solidFill>
            <a:srgbClr val="1E334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Score  =  (B × 0.30)  +  (M × 0.25)  +  (N × 0.20)  +  (G × 0.15)  +  (C × 0.10)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1627632" cy="2743200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12848"/>
            <a:ext cx="9144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B  ×  30%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7004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32461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Behavioural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192" y="3611880"/>
            <a:ext cx="1481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Serial returner history,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post-holiday timing,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item value, return speed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29968" y="2148840"/>
            <a:ext cx="1627632" cy="2743200"/>
          </a:xfrm>
          <a:prstGeom prst="rect">
            <a:avLst/>
          </a:prstGeom>
          <a:solidFill>
            <a:srgbClr val="162533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77440" y="2212848"/>
            <a:ext cx="9144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M  ×  25%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2670048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29968" y="32461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Metadata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03120" y="3611880"/>
            <a:ext cx="1481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Photo GPS vs delivery,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timestamp vs order date,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EXIF integrity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39896" y="2148840"/>
            <a:ext cx="1627632" cy="2743200"/>
          </a:xfrm>
          <a:prstGeom prst="rect">
            <a:avLst/>
          </a:prstGeom>
          <a:solidFill>
            <a:srgbClr val="162533"/>
          </a:solidFill>
          <a:ln w="127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087368" y="2212848"/>
            <a:ext cx="914400" cy="34747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87368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N  ×  20%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2670048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39896" y="32461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813048" y="3611880"/>
            <a:ext cx="1481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Shared device IDs,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linked accounts,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IP cluster analysis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49824" y="2148840"/>
            <a:ext cx="1627632" cy="2743200"/>
          </a:xfrm>
          <a:prstGeom prst="rect">
            <a:avLst/>
          </a:prstGeom>
          <a:solidFill>
            <a:srgbClr val="162533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797296" y="2212848"/>
            <a:ext cx="914400" cy="34747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797296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G  ×  15%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2670048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49824" y="32461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Geographic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522976" y="3611880"/>
            <a:ext cx="1481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Blacklisted pincodes,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high-fraud density zones,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area risk scoring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7159752" y="2148840"/>
            <a:ext cx="1627632" cy="2743200"/>
          </a:xfrm>
          <a:prstGeom prst="rect">
            <a:avLst/>
          </a:prstGeom>
          <a:solidFill>
            <a:srgbClr val="162533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507224" y="2212848"/>
            <a:ext cx="91440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507224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  ×  10%</a:t>
            </a:r>
            <a:endParaRPr lang="en-US" sz="12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2670048"/>
            <a:ext cx="475488" cy="4754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59752" y="32461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Carrier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232904" y="3611880"/>
            <a:ext cx="1481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Delivery scan vs INR,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signature obtained,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DD5DF"/>
                </a:solidFill>
              </a:rPr>
              <a:t>address mismatch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HARD OVERRIDE: Photo predates delivery → Score = 100 instantly, regardless of all other signals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THE SECRET SAUCE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Four forensic innovations no other system has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206240" cy="1664208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3560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371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Jaccard Similarity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4712" y="174650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5DF"/>
                </a:solidFill>
              </a:rPr>
              <a:t>Compares entire label-set intersection ratio between delivery and return scans. Below 60% match triggers Nuclear Block — not a soft flag.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4206240" cy="1664208"/>
          </a:xfrm>
          <a:prstGeom prst="rect">
            <a:avLst/>
          </a:prstGeom>
          <a:solidFill>
            <a:srgbClr val="162533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3560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13832" y="1371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Brand Identity Gate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13832" y="174650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5DF"/>
                </a:solidFill>
              </a:rPr>
              <a:t>Explicitly detects competitor brands (pTron, boAt) trying to pass as premium (Apple, Sony). Catches the most common high-value swap fraud.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3044952"/>
            <a:ext cx="4206240" cy="1664208"/>
          </a:xfrm>
          <a:prstGeom prst="rect">
            <a:avLst/>
          </a:prstGeom>
          <a:solidFill>
            <a:srgbClr val="162533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461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4712" y="3182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Metadata Integrity Check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24712" y="3557016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5DF"/>
                </a:solidFill>
              </a:rPr>
              <a:t>EXIF analysis: photo taken before delivery? GPS location mismatch? No EXIF at all (= Google Images download)? Each triggers a scored flag.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3044952"/>
            <a:ext cx="4206240" cy="1664208"/>
          </a:xfrm>
          <a:prstGeom prst="rect">
            <a:avLst/>
          </a:prstGeom>
          <a:solidFill>
            <a:srgbClr val="162533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461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13832" y="3182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Nuclear Hard-Block Override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13832" y="3557016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5DF"/>
                </a:solidFill>
              </a:rPr>
              <a:t>Clean account history cannot override physical product swap detection. If the forensic pipeline detects a swap — the score hits 100. No exceptions.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Production-grade. Offline-capable. Fraud-proof.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011680" cy="3584448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201168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739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Next.js 16 (Turbopack)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597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Vanilla CSS — high-performance 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2783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455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Real-time AR scanner overlay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1363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313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360° stabilisation 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261872"/>
            <a:ext cx="2011680" cy="3584448"/>
          </a:xfrm>
          <a:prstGeom prst="rect">
            <a:avLst/>
          </a:prstGeom>
          <a:solidFill>
            <a:srgbClr val="162533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261872"/>
            <a:ext cx="2011680" cy="4206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2618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Edge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185623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7739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TensorFlow.js + COCO-SSD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254203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4597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Instant in-browser object detection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322783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1455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No server round-trip needed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91363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8313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Works offline on restricted networks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261872"/>
            <a:ext cx="2011680" cy="3584448"/>
          </a:xfrm>
          <a:prstGeom prst="rect">
            <a:avLst/>
          </a:prstGeom>
          <a:solidFill>
            <a:srgbClr val="162533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261872"/>
            <a:ext cx="2011680" cy="420624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2618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Cloud AI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856232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7739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Google Cloud Vision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542032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4597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Web detection (reverse image search)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227832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1455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Brand / OCR identification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913632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8313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Deep forensic label analysis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66560" y="1261872"/>
            <a:ext cx="2011680" cy="3584448"/>
          </a:xfrm>
          <a:prstGeom prst="rect">
            <a:avLst/>
          </a:prstGeom>
          <a:solidFill>
            <a:srgbClr val="162533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1261872"/>
            <a:ext cx="2011680" cy="42062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12618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Database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03720" y="1856232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17739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Cloud Firestore hybrid mode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2542032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24597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Experimental long polling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3227832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31455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Extreme reliability on bad networks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03720" y="3913632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38313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5DF"/>
                </a:solidFill>
              </a:rPr>
              <a:t>Sub-ms baseline lookups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846320"/>
            <a:ext cx="8503920" cy="146304"/>
          </a:xfrm>
          <a:prstGeom prst="rect">
            <a:avLst/>
          </a:prstGeom>
          <a:solidFill>
            <a:srgbClr val="1E334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84632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</a:rPr>
              <a:t>Custom In-Memory + Persistent Hybrid Store  ·  Sub-millisecond baseline lookups during live demos  ·  Zero cold-start latency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THE COURIER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pickup decision is made before the courier starts their bike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8503920" cy="1143000"/>
          </a:xfrm>
          <a:prstGeom prst="rect">
            <a:avLst/>
          </a:prstGeom>
          <a:solidFill>
            <a:srgbClr val="162533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28600" cy="1143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4416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892808"/>
            <a:ext cx="822960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8928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Score 0 – 40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600200" y="1307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PICKUP AUTHORISED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1691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Webhook dispatched to Delhivery / BlueDart automatically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00200" y="200253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</a:rPr>
              <a:t>Instant refund initiated. Customer notified within 60 seconds. Zero human involvement required.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496312"/>
            <a:ext cx="8503920" cy="1143000"/>
          </a:xfrm>
          <a:prstGeom prst="rect">
            <a:avLst/>
          </a:prstGeom>
          <a:solidFill>
            <a:srgbClr val="162533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496312"/>
            <a:ext cx="228600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06040"/>
            <a:ext cx="438912" cy="438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3154680"/>
            <a:ext cx="8229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3154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Score 41 – 70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600200" y="2569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HOLD — VERIFY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600200" y="29535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WhatsApp auto-sent: 'Upload 5-second video of item seal'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600200" y="32644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</a:rPr>
              <a:t>System waits 24h. No response → auto-escalates to RED. Video received → re-scores and re-routes.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0040" y="3758184"/>
            <a:ext cx="8503920" cy="1143000"/>
          </a:xfrm>
          <a:prstGeom prst="rect">
            <a:avLst/>
          </a:prstGeom>
          <a:solidFill>
            <a:srgbClr val="1625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" y="3758184"/>
            <a:ext cx="22860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7912"/>
            <a:ext cx="438912" cy="43891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0080" y="4416552"/>
            <a:ext cx="82296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080" y="44165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Score 71 – 100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600200" y="3831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</a:rPr>
              <a:t>PICKUP BLOCKED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600200" y="421538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Retailer alert sent. 'Request Pickup' button disabled in system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600200" y="45262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</a:rPr>
              <a:t>Hard evidence summary generated. Retailer calls customer. Full forensic audit trail preserved.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numbers that matter to every investor in this room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1325880"/>
          </a:xfrm>
          <a:prstGeom prst="rect">
            <a:avLst/>
          </a:prstGeom>
          <a:solidFill>
            <a:srgbClr val="1E334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9385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5DF"/>
                </a:solidFill>
              </a:rPr>
              <a:t>Reduction in product-swap fraud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2011680" cy="1325880"/>
          </a:xfrm>
          <a:prstGeom prst="rect">
            <a:avLst/>
          </a:prstGeom>
          <a:solidFill>
            <a:srgbClr val="1E334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hrs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19385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5DF"/>
                </a:solidFill>
              </a:rPr>
              <a:t>Refund time for verified returns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2011680" cy="1325880"/>
          </a:xfrm>
          <a:prstGeom prst="rect">
            <a:avLst/>
          </a:prstGeom>
          <a:solidFill>
            <a:srgbClr val="1E334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09160" y="19385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5DF"/>
                </a:solidFill>
              </a:rPr>
              <a:t>Manual warehouse inspection eliminated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2011680" cy="1325880"/>
          </a:xfrm>
          <a:prstGeom prst="rect">
            <a:avLst/>
          </a:prstGeom>
          <a:solidFill>
            <a:srgbClr val="1E334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₹2/claim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0" y="19385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5DF"/>
                </a:solidFill>
              </a:rPr>
              <a:t>Cost per API call — profitable at any scale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20040" y="2724912"/>
          <a:ext cx="5303520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897880" y="2724912"/>
            <a:ext cx="2926080" cy="493776"/>
          </a:xfrm>
          <a:prstGeom prst="rect">
            <a:avLst/>
          </a:prstGeom>
          <a:solidFill>
            <a:srgbClr val="162533"/>
          </a:solidFill>
          <a:ln w="12700">
            <a:solidFill>
              <a:srgbClr val="1E3347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770632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00800" y="27340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5DF"/>
                </a:solidFill>
              </a:rPr>
              <a:t>10,000+ D2C brands in India with zero fraud defence today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897880" y="3291840"/>
            <a:ext cx="2926080" cy="493776"/>
          </a:xfrm>
          <a:prstGeom prst="rect">
            <a:avLst/>
          </a:prstGeom>
          <a:solidFill>
            <a:srgbClr val="162533"/>
          </a:solidFill>
          <a:ln w="12700">
            <a:solidFill>
              <a:srgbClr val="1E3347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333756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33009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5DF"/>
                </a:solidFill>
              </a:rPr>
              <a:t>Instant refunds build 40% higher customer lifetime value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897880" y="3858768"/>
            <a:ext cx="2926080" cy="493776"/>
          </a:xfrm>
          <a:prstGeom prst="rect">
            <a:avLst/>
          </a:prstGeom>
          <a:solidFill>
            <a:srgbClr val="162533"/>
          </a:solidFill>
          <a:ln w="12700">
            <a:solidFill>
              <a:srgbClr val="1E3347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39044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0800" y="38679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5DF"/>
                </a:solidFill>
              </a:rPr>
              <a:t>Every scan committed to forensic ledger — immutable audit trail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897880" y="4425696"/>
            <a:ext cx="2926080" cy="493776"/>
          </a:xfrm>
          <a:prstGeom prst="rect">
            <a:avLst/>
          </a:prstGeom>
          <a:solidFill>
            <a:srgbClr val="162533"/>
          </a:solidFill>
          <a:ln w="12700">
            <a:solidFill>
              <a:srgbClr val="1E3347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447141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0" y="44348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5DF"/>
                </a:solidFill>
              </a:rPr>
              <a:t>Active learning loop — model improves with every flagged return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5303520" y="27432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THE BOTTOM LINE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11480" y="8686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"Amazon's model is </a:t>
            </a:r>
            <a:r>
              <a:rPr lang="en-US" sz="2800" b="1" i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</a:t>
            </a: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manual.
Ours is </a:t>
            </a:r>
            <a:r>
              <a:rPr lang="en-US" sz="28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</a:t>
            </a: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automated.”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3347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2578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We don't replace the delivery boy — we give retailers a Risk Filter that decides HOW an item is returned before the boy leaves the warehouse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55264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" y="3200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The 10,000 D2C brands that don't have Amazon's logistics army — this is their fraud ops team, available as an API in under one day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77056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" y="38221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F"/>
                </a:solidFill>
              </a:rPr>
              <a:t>A delivery boy can be fooled by a fake iPhone in a real box. Our metadata check knows if the photo was taken 3 days before delivery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11480" y="4480560"/>
            <a:ext cx="34747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411480" y="44805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Live Demo  →  shopsphere-forensic-mirror.vercel.app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160520" y="4480560"/>
            <a:ext cx="4663440" cy="475488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4160520" y="44805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GitHub  ·  github.com/your-team/shopSphere-forensic-mirror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1020</Words>
  <Application>Microsoft Office PowerPoint</Application>
  <PresentationFormat>On-screen Show (16:9)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ShopSphere Forensic Mirror</dc:title>
  <dc:subject>PptxGenJS Presentation</dc:subject>
  <dc:creator>PptxGenJS</dc:creator>
  <cp:lastModifiedBy>Sameerahmedg666@gmail.com</cp:lastModifiedBy>
  <cp:revision>2</cp:revision>
  <dcterms:created xsi:type="dcterms:W3CDTF">2026-04-30T02:47:14Z</dcterms:created>
  <dcterms:modified xsi:type="dcterms:W3CDTF">2026-04-30T03:44:46Z</dcterms:modified>
</cp:coreProperties>
</file>